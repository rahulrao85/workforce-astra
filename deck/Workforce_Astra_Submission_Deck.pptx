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4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hyperlink" Target="https://github.com/rahulrao85/Workforce-Astra" TargetMode="External"/><Relationship Id="rId4" Type="http://schemas.openxmlformats.org/officeDocument/2006/relationships/hyperlink" Target="https://workforce-astra.rahulrao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>
                <a:solidFill>
                  <a:srgbClr val="202729"/>
                </a:solidFill>
                <a:latin typeface="Segoe UI Semibold"/>
              </a:rPr>
              <a:t>Team Name : </a:t>
            </a:r>
            <a:r>
              <a:rPr sz="1343" b="0" i="0">
                <a:solidFill>
                  <a:srgbClr val="0B5ED7"/>
                </a:solidFill>
                <a:latin typeface="Segoe UI Semibold"/>
              </a:rPr>
              <a:t>Workforce Astra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8412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>
                <a:solidFill>
                  <a:srgbClr val="202729"/>
                </a:solidFill>
                <a:latin typeface="Segoe UI Semibold"/>
              </a:rPr>
              <a:t>Problem Statement : </a:t>
            </a:r>
            <a:r>
              <a:rPr sz="1343" b="0" i="0">
                <a:solidFill>
                  <a:srgbClr val="0B5ED7"/>
                </a:solidFill>
                <a:latin typeface="Segoe UI Semibold"/>
              </a:rPr>
              <a:t>Customer 360 and Next Best Action Engine (as Employee 360)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>
                <a:solidFill>
                  <a:srgbClr val="202729"/>
                </a:solidFill>
                <a:latin typeface="Segoe UI Semibold"/>
              </a:rPr>
              <a:t>Team Leader Name : </a:t>
            </a:r>
            <a:r>
              <a:rPr sz="1343" b="0" i="0">
                <a:solidFill>
                  <a:srgbClr val="0B5ED7"/>
                </a:solidFill>
                <a:latin typeface="Segoe UI Semibold"/>
              </a:rPr>
              <a:t>Rahul Rao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>
                <a:solidFill>
                  <a:srgbClr val="202729"/>
                </a:solidFill>
                <a:latin typeface="Segoe UI Semibold"/>
              </a:rPr>
              <a:t>Team Size : </a:t>
            </a:r>
            <a:r>
              <a:rPr sz="1343" b="0" i="0">
                <a:solidFill>
                  <a:srgbClr val="0B5ED7"/>
                </a:solidFill>
                <a:latin typeface="Segoe UI Semibold"/>
              </a:rPr>
              <a:t>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 spc="120">
                <a:solidFill>
                  <a:srgbClr val="0B5ED7"/>
                </a:solidFill>
                <a:latin typeface="Segoe UI"/>
              </a:rPr>
              <a:t>1 · PROBLEM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86384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Segoe UI Semibold"/>
              </a:rPr>
              <a:t>Three teams, three headcounts, from the same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188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Workforce Astra  ·  Employee 360 on Snowflake  ·  all data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48188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4069080" cy="1645920"/>
          </a:xfrm>
          <a:prstGeom prst="roundRect">
            <a:avLst>
              <a:gd name="adj" fmla="val 3888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THE BUSINESS PROBLEM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02729"/>
                </a:solidFill>
                <a:latin typeface="Segoe UI"/>
              </a:rPr>
              <a:t>HR, Finance and Engineering each re-derive headcount, attrition and pay metrics ad hoc. Nobody owns the definition, so the same question gets a different answer from each team.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B6570"/>
                </a:solidFill>
                <a:latin typeface="Segoe UI"/>
              </a:rPr>
              <a:t>Ask “how many employees do we have?” and get 109 from one query, 127 from another, on identical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4069080" cy="1645920"/>
          </a:xfrm>
          <a:prstGeom prst="roundRect">
            <a:avLst>
              <a:gd name="adj" fmla="val 3888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WHO IT'S FOR</a:t>
            </a:r>
          </a:p>
          <a:p>
            <a:pPr algn="l" marL="137160" indent="-137160">
              <a:spcAft>
                <a:spcPts val="300"/>
              </a:spcAft>
              <a:buClr>
                <a:srgbClr val="0B5ED7"/>
              </a:buClr>
              <a:buFont typeface="Arial"/>
              <a:buChar char="•"/>
            </a:pPr>
            <a:r>
              <a:rPr sz="1150" b="0" i="0">
                <a:solidFill>
                  <a:srgbClr val="202729"/>
                </a:solidFill>
                <a:latin typeface="Segoe UI"/>
              </a:rPr>
              <a:t>People Analytics and HR business partners</a:t>
            </a:r>
          </a:p>
          <a:p>
            <a:pPr algn="l" marL="137160" indent="-137160">
              <a:spcAft>
                <a:spcPts val="300"/>
              </a:spcAft>
              <a:buClr>
                <a:srgbClr val="0B5ED7"/>
              </a:buClr>
              <a:buFont typeface="Arial"/>
              <a:buChar char="•"/>
            </a:pPr>
            <a:r>
              <a:rPr sz="1150" b="0" i="0">
                <a:solidFill>
                  <a:srgbClr val="202729"/>
                </a:solidFill>
                <a:latin typeface="Segoe UI"/>
              </a:rPr>
              <a:t>Finance: workforce cost and board reporting</a:t>
            </a:r>
          </a:p>
          <a:p>
            <a:pPr algn="l" marL="137160" indent="-137160">
              <a:spcAft>
                <a:spcPts val="300"/>
              </a:spcAft>
              <a:buClr>
                <a:srgbClr val="0B5ED7"/>
              </a:buClr>
              <a:buFont typeface="Arial"/>
              <a:buChar char="•"/>
            </a:pPr>
            <a:r>
              <a:rPr sz="1150" b="0" i="0">
                <a:solidFill>
                  <a:srgbClr val="202729"/>
                </a:solidFill>
                <a:latin typeface="Segoe UI"/>
              </a:rPr>
              <a:t>Engineering and delivery leaders: spans, retention</a:t>
            </a:r>
          </a:p>
          <a:p>
            <a:pPr algn="l" marL="137160" indent="-137160">
              <a:spcAft>
                <a:spcPts val="300"/>
              </a:spcAft>
              <a:buClr>
                <a:srgbClr val="0B5ED7"/>
              </a:buClr>
              <a:buFont typeface="Arial"/>
              <a:buChar char="•"/>
            </a:pPr>
            <a:r>
              <a:rPr sz="1150" b="0" i="0">
                <a:solidFill>
                  <a:srgbClr val="202729"/>
                </a:solidFill>
                <a:latin typeface="Segoe UI"/>
              </a:rPr>
              <a:t>CHRO and compliance: pay equity, band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081528"/>
            <a:ext cx="4069080" cy="1645920"/>
          </a:xfrm>
          <a:prstGeom prst="roundRect">
            <a:avLst>
              <a:gd name="adj" fmla="val 3888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PAIN POINT → IMPROVEMENT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02729"/>
                </a:solidFill>
                <a:latin typeface="Segoe UI"/>
              </a:rPr>
              <a:t>Today: </a:t>
            </a:r>
            <a:r>
              <a:rPr sz="1100" b="0" i="0">
                <a:solidFill>
                  <a:srgbClr val="202729"/>
                </a:solidFill>
                <a:latin typeface="Segoe UI"/>
              </a:rPr>
              <a:t>reconciliation before every board pack; pay-equity numbers nobody trusts; exit interviews read once and never joined to anything.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B5ED7"/>
                </a:solidFill>
                <a:latin typeface="Segoe UI"/>
              </a:rPr>
              <a:t>With Workforce Astra: </a:t>
            </a:r>
            <a:r>
              <a:rPr sz="1100" b="0" i="0">
                <a:solidFill>
                  <a:srgbClr val="202729"/>
                </a:solidFill>
                <a:latin typeface="Segoe UI"/>
              </a:rPr>
              <a:t>one owned, tested definition per metric; interview reasons joined to pay and performance; the next action drafted for a human to approve.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081528"/>
            <a:ext cx="4069080" cy="1645920"/>
          </a:xfrm>
          <a:prstGeom prst="roundRect">
            <a:avLst>
              <a:gd name="adj" fmla="val 3888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INDUSTRY CONTEXT: GCCs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02729"/>
                </a:solidFill>
                <a:latin typeface="Segoe UI"/>
              </a:rPr>
              <a:t>A Global Capability Centre runs people operations for a global parent. The parent, the centre and its vendors each keep their own definitions, and contractors blur what “headcount” means.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B5ED7"/>
                </a:solidFill>
                <a:latin typeface="Segoe UI"/>
              </a:rPr>
              <a:t>Customer 360 unifies the customer. Employee 360 unifies the workforce.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 spc="120">
                <a:solidFill>
                  <a:srgbClr val="0B5ED7"/>
                </a:solidFill>
                <a:latin typeface="Segoe UI"/>
              </a:rPr>
              <a:t>SOLUTION · EMPLOYEE 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86384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Segoe UI Semibold"/>
              </a:rPr>
              <a:t>One governed definition, so every tool gives the same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188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Workforce Astra  ·  Employee 360 on Snowflake  ·  all data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48188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749039" cy="2103120"/>
          </a:xfrm>
          <a:prstGeom prst="roundRect">
            <a:avLst>
              <a:gd name="adj" fmla="val 3043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SAME DATA, SAME MOMENT, TWO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0B5ED7"/>
                </a:solidFill>
                <a:latin typeface="Segoe UI Semibold"/>
              </a:rPr>
              <a:t>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02729"/>
                </a:solidFill>
                <a:latin typeface="Segoe UI"/>
              </a:rPr>
              <a:t>Governed FTE headcount, from the Employee 360 semantic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5B6570"/>
                </a:solidFill>
                <a:latin typeface="Segoe UI Semibold"/>
              </a:rPr>
              <a:t>127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77440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02729"/>
                </a:solidFill>
                <a:latin typeface="Segoe UI"/>
              </a:rPr>
              <a:t>Ungoverned “active” count: silently includes 18 contractors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B5ED7"/>
                </a:solidFill>
                <a:latin typeface="Segoe UI"/>
              </a:rPr>
              <a:t>The semantic view makes the governed answer the default, in every tool.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593592"/>
            <a:ext cx="3749039" cy="1161288"/>
          </a:xfrm>
          <a:prstGeom prst="roundRect">
            <a:avLst>
              <a:gd name="adj" fmla="val 5511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NEXT BEST ACTION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2729"/>
                </a:solidFill>
                <a:latin typeface="Segoe UI"/>
              </a:rPr>
              <a:t>An MCP tool drafts the manager alert, comp adjustment or band review. Every tool defaults to dry-run: nothing is sent, and a human approves.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344168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02729"/>
                </a:solidFill>
                <a:latin typeface="Segoe UI Semibold"/>
              </a:rPr>
              <a:t>Five governed Semantic 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645920"/>
            <a:ext cx="4343400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B5ED7"/>
                </a:solidFill>
                <a:latin typeface="Segoe UI Semibold"/>
              </a:rPr>
              <a:t>Employee 360   </a:t>
            </a:r>
            <a:r>
              <a:rPr sz="1000" b="0" i="0">
                <a:solidFill>
                  <a:srgbClr val="202729"/>
                </a:solidFill>
                <a:latin typeface="Segoe UI"/>
              </a:rPr>
              <a:t>headcount, attrition and comp-ratio across HRIS and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267712"/>
            <a:ext cx="4343400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B5ED7"/>
                </a:solidFill>
                <a:latin typeface="Segoe UI Semibold"/>
              </a:rPr>
              <a:t>Org Health 360   </a:t>
            </a:r>
            <a:r>
              <a:rPr sz="1000" b="0" i="0">
                <a:solidFill>
                  <a:srgbClr val="202729"/>
                </a:solidFill>
                <a:latin typeface="Segoe UI"/>
              </a:rPr>
              <a:t>span of control, overspan managers, org depth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889504"/>
            <a:ext cx="4343400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B5ED7"/>
                </a:solidFill>
                <a:latin typeface="Segoe UI Semibold"/>
              </a:rPr>
              <a:t>Pay Equity 360   </a:t>
            </a:r>
            <a:r>
              <a:rPr sz="1000" b="0" i="0">
                <a:solidFill>
                  <a:srgbClr val="202729"/>
                </a:solidFill>
                <a:latin typeface="Segoe UI"/>
              </a:rPr>
              <a:t>raw vs band-adjusted pay gap; small cohorts suppressed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511296"/>
            <a:ext cx="4343400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B5ED7"/>
                </a:solidFill>
                <a:latin typeface="Segoe UI Semibold"/>
              </a:rPr>
              <a:t>Employee Voice 360   </a:t>
            </a:r>
            <a:r>
              <a:rPr sz="1000" b="0" i="0">
                <a:solidFill>
                  <a:srgbClr val="202729"/>
                </a:solidFill>
                <a:latin typeface="Segoe UI"/>
              </a:rPr>
              <a:t>interview sentiment and reason, joined to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133088"/>
            <a:ext cx="4343400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B5ED7"/>
                </a:solidFill>
                <a:latin typeface="Segoe UI Semibold"/>
              </a:rPr>
              <a:t>Band Health 360   </a:t>
            </a:r>
            <a:r>
              <a:rPr sz="1000" b="0" i="0">
                <a:solidFill>
                  <a:srgbClr val="202729"/>
                </a:solidFill>
                <a:latin typeface="Segoe UI"/>
              </a:rPr>
              <a:t>below-minimum pay, red circles, band overlap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 spc="120">
                <a:solidFill>
                  <a:srgbClr val="0B5ED7"/>
                </a:solidFill>
                <a:latin typeface="Segoe UI"/>
              </a:rPr>
              <a:t>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86384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Segoe UI Semibold"/>
              </a:rPr>
              <a:t>Data flow: sources to governed views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188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Workforce Astra  ·  Employee 360 on Snowflake  ·  all data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48188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DATA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00200"/>
            <a:ext cx="1417320" cy="1097280"/>
          </a:xfrm>
          <a:prstGeom prst="roundRect">
            <a:avLst>
              <a:gd name="adj" fmla="val 5833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Structured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HRIS workers (150)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Comp bands (5)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Performance reviews (127)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834640"/>
            <a:ext cx="1417320" cy="1188720"/>
          </a:xfrm>
          <a:prstGeom prst="roundRect">
            <a:avLst>
              <a:gd name="adj" fmla="val 5384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Unstructured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Stay / exit interviews (18)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Review note text (127)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50791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750" b="0" i="1">
                <a:solidFill>
                  <a:srgbClr val="5B6570"/>
                </a:solidFill>
                <a:latin typeface="Segoe UI"/>
              </a:rPr>
              <a:t>synthetic, generated in repo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280160"/>
            <a:ext cx="4892040" cy="2880360"/>
          </a:xfrm>
          <a:prstGeom prst="roundRect">
            <a:avLst>
              <a:gd name="adj" fmla="val 3174"/>
            </a:avLst>
          </a:prstGeom>
          <a:solidFill>
            <a:srgbClr val="F7FAFF"/>
          </a:solidFill>
          <a:ln w="9525">
            <a:solidFill>
              <a:srgbClr val="0B5ED7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3258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50" b="1" i="0" spc="120">
                <a:solidFill>
                  <a:srgbClr val="0B5ED7"/>
                </a:solidFill>
                <a:latin typeface="Segoe UI"/>
              </a:rPr>
              <a:t>SNOWFLAKE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57276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02729"/>
                </a:solidFill>
                <a:latin typeface="Segoe UI"/>
              </a:rPr>
              <a:t>Ingest &amp;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1810512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RAW 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2496312"/>
            <a:ext cx="14173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Snowpark Python proc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Cortex SENTIMENT + AI_CLASSIFY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331927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Cortex Search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over 127 review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57276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02729"/>
                </a:solidFill>
                <a:latin typeface="Segoe UI"/>
              </a:rPr>
              <a:t>Governed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1810512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0B5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5 Semantic Views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Employee · Org Health · Pay Equity · Voice · Band Health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2816352"/>
            <a:ext cx="1600200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Metric registry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29 metrics · 0 unowned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3456432"/>
            <a:ext cx="1600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3 scheduled Tasks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25 tests → governance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157276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02729"/>
                </a:solidFill>
                <a:latin typeface="Segoe UI"/>
              </a:rPr>
              <a:t>Serve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0" y="1810512"/>
            <a:ext cx="1325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Cortex Analyst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plain English → governed 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2633472"/>
            <a:ext cx="1325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Streamlit portal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Employee 360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13258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AROUND SNOWFLAKE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600200"/>
            <a:ext cx="1645920" cy="731520"/>
          </a:xfrm>
          <a:prstGeom prst="roundRect">
            <a:avLst>
              <a:gd name="adj" fmla="val 8750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CoCo CLI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builds and operates it all, via 2 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2423160"/>
            <a:ext cx="16459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MCP server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6 action tools, dry-run by default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324612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Landing page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dated snapshot of the views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828800" y="2057400"/>
            <a:ext cx="32004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0" y="3017520"/>
            <a:ext cx="32004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0" y="3602736"/>
            <a:ext cx="32004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57500" y="2313432"/>
            <a:ext cx="0" cy="18288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66160" y="2057400"/>
            <a:ext cx="13716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66160" y="2606040"/>
            <a:ext cx="13716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303520" y="2176272"/>
            <a:ext cx="13716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03520" y="2679192"/>
            <a:ext cx="13716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66560" y="2999232"/>
            <a:ext cx="32004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766560" y="1965960"/>
            <a:ext cx="320040" cy="0"/>
          </a:xfrm>
          <a:prstGeom prst="line">
            <a:avLst/>
          </a:prstGeom>
          <a:ln w="19050">
            <a:solidFill>
              <a:srgbClr val="0B5ED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11480" y="4297680"/>
            <a:ext cx="8321040" cy="411480"/>
          </a:xfrm>
          <a:prstGeom prst="roundRect">
            <a:avLst>
              <a:gd name="adj" fmla="val 15555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202729"/>
                </a:solidFill>
                <a:latin typeface="Segoe UI"/>
              </a:rPr>
              <a:t>CoCo skill 1  </a:t>
            </a:r>
            <a:r>
              <a:rPr sz="900" b="0" i="0">
                <a:solidFill>
                  <a:srgbClr val="0B5ED7"/>
                </a:solidFill>
                <a:latin typeface="Consolas"/>
              </a:rPr>
              <a:t>$workforce-astra-data-gen</a:t>
            </a:r>
            <a:r>
              <a:rPr sz="900" b="0" i="0">
                <a:solidFill>
                  <a:srgbClr val="202729"/>
                </a:solidFill>
                <a:latin typeface="Segoe UI"/>
              </a:rPr>
              <a:t>  loads the data     ·     </a:t>
            </a:r>
            <a:r>
              <a:rPr sz="900" b="1" i="0">
                <a:solidFill>
                  <a:srgbClr val="202729"/>
                </a:solidFill>
                <a:latin typeface="Segoe UI"/>
              </a:rPr>
              <a:t>CoCo skill 2  </a:t>
            </a:r>
            <a:r>
              <a:rPr sz="900" b="0" i="0">
                <a:solidFill>
                  <a:srgbClr val="0B5ED7"/>
                </a:solidFill>
                <a:latin typeface="Consolas"/>
              </a:rPr>
              <a:t>$workforce-astra-governance-check</a:t>
            </a:r>
            <a:r>
              <a:rPr sz="900" b="0" i="0">
                <a:solidFill>
                  <a:srgbClr val="202729"/>
                </a:solidFill>
                <a:latin typeface="Segoe UI"/>
              </a:rPr>
              <a:t>  runs 25 tests, names owners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 spc="120">
                <a:solidFill>
                  <a:srgbClr val="0B5ED7"/>
                </a:solidFill>
                <a:latin typeface="Segoe UI"/>
              </a:rPr>
              <a:t>2 · ARCHITECTURE: COCO CLI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86384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Segoe UI Semibold"/>
              </a:rPr>
              <a:t>Two reusable CoCo skills, and modules that plug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188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Workforce Astra  ·  Employee 360 on Snowflake  ·  all data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48188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8321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2729"/>
                </a:solidFill>
                <a:latin typeface="Segoe UI Semibold"/>
              </a:rPr>
              <a:t>Skill 1   </a:t>
            </a:r>
            <a:r>
              <a:rPr sz="1100" b="1" i="0">
                <a:solidFill>
                  <a:srgbClr val="0B5ED7"/>
                </a:solidFill>
                <a:latin typeface="Consolas"/>
              </a:rPr>
              <a:t>$workforce-astra-data-gen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27632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0B5ED7"/>
                </a:solidFill>
                <a:latin typeface="Segoe UI"/>
              </a:rPr>
              <a:t>INPUT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02729"/>
                </a:solidFill>
                <a:latin typeface="Segoe UI"/>
              </a:rPr>
              <a:t>Generator scripts with a fixed seed; specs for 4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62763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0B5ED7"/>
                </a:solidFill>
                <a:latin typeface="Segoe UI"/>
              </a:rPr>
              <a:t>PROCESSING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02729"/>
                </a:solidFill>
                <a:latin typeface="Segoe UI"/>
              </a:rPr>
              <a:t>Generate 4 CSVs → verify hard invariants (a gate, not a report) → PUT to stage → COPY INTO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27632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0B5ED7"/>
                </a:solidFill>
                <a:latin typeface="Segoe UI"/>
              </a:rPr>
              <a:t>OUTPUT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02729"/>
                </a:solidFill>
                <a:latin typeface="Segoe UI"/>
              </a:rPr>
              <a:t>150 workers · 5 bands · 127 reviews · 18 transcripts loaded; the 109 vs 127 proof point holds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2084832"/>
            <a:ext cx="22860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5040" y="2084832"/>
            <a:ext cx="22860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2651760"/>
            <a:ext cx="8321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2729"/>
                </a:solidFill>
                <a:latin typeface="Segoe UI Semibold"/>
              </a:rPr>
              <a:t>Skill 2   </a:t>
            </a:r>
            <a:r>
              <a:rPr sz="1100" b="1" i="0">
                <a:solidFill>
                  <a:srgbClr val="0B5ED7"/>
                </a:solidFill>
                <a:latin typeface="Consolas"/>
              </a:rPr>
              <a:t>$workforce-astra-governance-check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53512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0B5ED7"/>
                </a:solidFill>
                <a:latin typeface="Segoe UI"/>
              </a:rPr>
              <a:t>INPUT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02729"/>
                </a:solidFill>
                <a:latin typeface="Segoe UI"/>
              </a:rPr>
              <a:t>Metric registry (29 owned metrics) and certified golden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95351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0B5ED7"/>
                </a:solidFill>
                <a:latin typeface="Segoe UI"/>
              </a:rPr>
              <a:t>PROCESSING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02729"/>
                </a:solidFill>
                <a:latin typeface="Segoe UI"/>
              </a:rPr>
              <a:t>run_metric_tests() → split deterministic vs model-dependent → look up each metric's owner → read Tasks and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53512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0B5ED7"/>
                </a:solidFill>
                <a:latin typeface="Segoe UI"/>
              </a:rPr>
              <a:t>OUTPUT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02729"/>
                </a:solidFill>
                <a:latin typeface="Segoe UI"/>
              </a:rPr>
              <a:t>25/25 PASS (15 + 10) · owner named for any failure · 3 Tasks started · open alerts explained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88920" y="3410712"/>
            <a:ext cx="22860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35040" y="3410712"/>
            <a:ext cx="228600" cy="0"/>
          </a:xfrm>
          <a:prstGeom prst="line">
            <a:avLst/>
          </a:prstGeom>
          <a:ln w="19050">
            <a:solidFill>
              <a:srgbClr val="0B5E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" y="3931920"/>
            <a:ext cx="8321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HOW MODULES PLUG TOGETHER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160520"/>
            <a:ext cx="159105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202729"/>
                </a:solidFill>
                <a:latin typeface="Segoe UI Semibold"/>
              </a:rPr>
              <a:t>Semantic view per domain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570"/>
                </a:solidFill>
                <a:latin typeface="Segoe UI"/>
              </a:rPr>
              <a:t>new domain = a view + registry rows +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3976" y="4160520"/>
            <a:ext cx="159105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202729"/>
                </a:solidFill>
                <a:latin typeface="Segoe UI Semibold"/>
              </a:rPr>
              <a:t>Snowpark scoring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570"/>
                </a:solidFill>
                <a:latin typeface="Segoe UI"/>
              </a:rPr>
              <a:t>fixed, versioned 8-label reason taxonomy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76472" y="4160520"/>
            <a:ext cx="159105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202729"/>
                </a:solidFill>
                <a:latin typeface="Segoe UI Semibold"/>
              </a:rPr>
              <a:t>Scheduled Tasks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570"/>
                </a:solidFill>
                <a:latin typeface="Segoe UI"/>
              </a:rPr>
              <a:t>daily tests · weekly pay drift · quarterly bands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8968" y="4160520"/>
            <a:ext cx="159105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202729"/>
                </a:solidFill>
                <a:latin typeface="Segoe UI Semibold"/>
              </a:rPr>
              <a:t>MCP tools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570"/>
                </a:solidFill>
                <a:latin typeface="Segoe UI"/>
              </a:rPr>
              <a:t>mocked today; real connector goes behind approval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41464" y="4160520"/>
            <a:ext cx="159105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202729"/>
                </a:solidFill>
                <a:latin typeface="Segoe UI Semibold"/>
              </a:rPr>
              <a:t>Portable skills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570"/>
                </a:solidFill>
                <a:latin typeface="Segoe UI"/>
              </a:rPr>
              <a:t>port by renaming 3 objects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 spc="120">
                <a:solidFill>
                  <a:srgbClr val="0B5ED7"/>
                </a:solidFill>
                <a:latin typeface="Segoe UI"/>
              </a:rPr>
              <a:t>MVP RESULTS · SYNTHETIC DATA, LIVE 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86384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Segoe UI Semibold"/>
              </a:rPr>
              <a:t>What the governed views find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188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Workforce Astra  ·  Employee 360 on Snowflake  ·  all data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48188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1975104" cy="2286000"/>
          </a:xfrm>
          <a:prstGeom prst="roundRect">
            <a:avLst>
              <a:gd name="adj" fmla="val 324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PAY EQUITY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5ED7"/>
                </a:solidFill>
                <a:latin typeface="Segoe UI Semibold"/>
              </a:rPr>
              <a:t>−2.8%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202729"/>
                </a:solidFill>
                <a:latin typeface="Segoe UI"/>
              </a:rPr>
              <a:t>band-adjusted gender pay gap (raw: −16.8%)</a:t>
            </a:r>
          </a:p>
          <a:p>
            <a:pPr algn="l" marL="137160" indent="-137160">
              <a:spcAft>
                <a:spcPts val="400"/>
              </a:spcAft>
              <a:buClr>
                <a:srgbClr val="0B5ED7"/>
              </a:buClr>
              <a:buFont typeface="Arial"/>
              <a:buChar char="•"/>
            </a:pPr>
            <a:r>
              <a:rPr sz="950" b="0" i="0">
                <a:solidFill>
                  <a:srgbClr val="5B6570"/>
                </a:solidFill>
                <a:latin typeface="Segoe UI"/>
              </a:rPr>
              <a:t>Board and legal read one governed number</a:t>
            </a:r>
          </a:p>
          <a:p>
            <a:pPr algn="l" marL="137160" indent="-137160">
              <a:spcAft>
                <a:spcPts val="400"/>
              </a:spcAft>
              <a:buClr>
                <a:srgbClr val="0B5ED7"/>
              </a:buClr>
              <a:buFont typeface="Arial"/>
              <a:buChar char="•"/>
            </a:pPr>
            <a:r>
              <a:rPr sz="950" b="0" i="0">
                <a:solidFill>
                  <a:srgbClr val="5B6570"/>
                </a:solidFill>
                <a:latin typeface="Segoe UI"/>
              </a:rPr>
              <a:t>39 of 44 cohorts suppressed (under 5 people)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3744" y="1371600"/>
            <a:ext cx="1975104" cy="2286000"/>
          </a:xfrm>
          <a:prstGeom prst="roundRect">
            <a:avLst>
              <a:gd name="adj" fmla="val 324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BAND HEALTH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5ED7"/>
                </a:solidFill>
                <a:latin typeface="Segoe UI Semibold"/>
              </a:rPr>
              <a:t>37 of 150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202729"/>
                </a:solidFill>
                <a:latin typeface="Segoe UI"/>
              </a:rPr>
              <a:t>paid below their own band minimum (24.7%)</a:t>
            </a:r>
          </a:p>
          <a:p>
            <a:pPr algn="l" marL="137160" indent="-137160">
              <a:spcAft>
                <a:spcPts val="400"/>
              </a:spcAft>
              <a:buClr>
                <a:srgbClr val="0B5ED7"/>
              </a:buClr>
              <a:buFont typeface="Arial"/>
              <a:buChar char="•"/>
            </a:pPr>
            <a:r>
              <a:rPr sz="950" b="0" i="0">
                <a:solidFill>
                  <a:srgbClr val="5B6570"/>
                </a:solidFill>
                <a:latin typeface="Segoe UI"/>
              </a:rPr>
              <a:t>0 red circles: the obvious metric misses it</a:t>
            </a:r>
          </a:p>
          <a:p>
            <a:pPr algn="l" marL="137160" indent="-137160">
              <a:spcAft>
                <a:spcPts val="400"/>
              </a:spcAft>
              <a:buClr>
                <a:srgbClr val="0B5ED7"/>
              </a:buClr>
              <a:buFont typeface="Arial"/>
              <a:buChar char="•"/>
            </a:pPr>
            <a:r>
              <a:rPr sz="950" b="0" i="0">
                <a:solidFill>
                  <a:srgbClr val="5B6570"/>
                </a:solidFill>
                <a:latin typeface="Segoe UI"/>
              </a:rPr>
              <a:t>M1 and IC5 ranges overlap 71%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1371600"/>
            <a:ext cx="1975104" cy="2286000"/>
          </a:xfrm>
          <a:prstGeom prst="roundRect">
            <a:avLst>
              <a:gd name="adj" fmla="val 324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EMPLOYEE VOICE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5ED7"/>
                </a:solidFill>
                <a:latin typeface="Segoe UI Semibold"/>
              </a:rPr>
              <a:t>5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202729"/>
                </a:solidFill>
                <a:latin typeface="Segoe UI"/>
              </a:rPr>
              <a:t>corroborated flight risks: negative, underpaid, rated 4+</a:t>
            </a:r>
          </a:p>
          <a:p>
            <a:pPr algn="l" marL="137160" indent="-137160">
              <a:spcAft>
                <a:spcPts val="400"/>
              </a:spcAft>
              <a:buClr>
                <a:srgbClr val="0B5ED7"/>
              </a:buClr>
              <a:buFont typeface="Arial"/>
              <a:buChar char="•"/>
            </a:pPr>
            <a:r>
              <a:rPr sz="950" b="0" i="0">
                <a:solidFill>
                  <a:srgbClr val="5B6570"/>
                </a:solidFill>
                <a:latin typeface="Segoe UI"/>
              </a:rPr>
              <a:t>18 interviews scored in Snowpark + Cortex</a:t>
            </a:r>
          </a:p>
          <a:p>
            <a:pPr algn="l" marL="137160" indent="-137160">
              <a:spcAft>
                <a:spcPts val="400"/>
              </a:spcAft>
              <a:buClr>
                <a:srgbClr val="0B5ED7"/>
              </a:buClr>
              <a:buFont typeface="Arial"/>
              <a:buChar char="•"/>
            </a:pPr>
            <a:r>
              <a:rPr sz="950" b="0" i="0">
                <a:solidFill>
                  <a:srgbClr val="5B6570"/>
                </a:solidFill>
                <a:latin typeface="Segoe UI"/>
              </a:rPr>
              <a:t>Top reason: career growth (6 of 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48272" y="1371600"/>
            <a:ext cx="1975104" cy="2286000"/>
          </a:xfrm>
          <a:prstGeom prst="roundRect">
            <a:avLst>
              <a:gd name="adj" fmla="val 3240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ORG HEALTH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B5ED7"/>
                </a:solidFill>
                <a:latin typeface="Segoe UI Semibold"/>
              </a:rPr>
              <a:t>9.0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202729"/>
                </a:solidFill>
                <a:latin typeface="Segoe UI"/>
              </a:rPr>
              <a:t>average span of control across 15 managers</a:t>
            </a:r>
          </a:p>
          <a:p>
            <a:pPr algn="l" marL="137160" indent="-137160">
              <a:spcAft>
                <a:spcPts val="400"/>
              </a:spcAft>
              <a:buClr>
                <a:srgbClr val="0B5ED7"/>
              </a:buClr>
              <a:buFont typeface="Arial"/>
              <a:buChar char="•"/>
            </a:pPr>
            <a:r>
              <a:rPr sz="950" b="0" i="0">
                <a:solidFill>
                  <a:srgbClr val="5B6570"/>
                </a:solidFill>
                <a:latin typeface="Segoe UI"/>
              </a:rPr>
              <a:t>5 managers over 10 direct reports</a:t>
            </a:r>
          </a:p>
          <a:p>
            <a:pPr algn="l" marL="137160" indent="-137160">
              <a:spcAft>
                <a:spcPts val="400"/>
              </a:spcAft>
              <a:buClr>
                <a:srgbClr val="0B5ED7"/>
              </a:buClr>
              <a:buFont typeface="Arial"/>
              <a:buChar char="•"/>
            </a:pPr>
            <a:r>
              <a:rPr sz="950" b="0" i="0">
                <a:solidFill>
                  <a:srgbClr val="5B6570"/>
                </a:solidFill>
                <a:latin typeface="Segoe UI"/>
              </a:rPr>
              <a:t>Reorg what-if tool is guarded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767328"/>
            <a:ext cx="8321040" cy="987552"/>
          </a:xfrm>
          <a:prstGeom prst="roundRect">
            <a:avLst>
              <a:gd name="adj" fmla="val 6481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B5ED7"/>
                </a:solidFill>
                <a:latin typeface="Segoe UI Semibold"/>
              </a:rPr>
              <a:t>EMP-0031</a:t>
            </a:r>
            <a:r>
              <a:rPr sz="900" b="0" i="0">
                <a:solidFill>
                  <a:srgbClr val="5B6570"/>
                </a:solidFill>
                <a:latin typeface="Segoe UI"/>
              </a:rPr>
              <a:t>   exit interview  ·  sentiment −0.53  ·  comp-ratio 0.80  ·  rated 4 of 5</a:t>
            </a:r>
          </a:p>
          <a:p>
            <a:pPr algn="l">
              <a:spcAft>
                <a:spcPts val="300"/>
              </a:spcAft>
            </a:pPr>
            <a:r>
              <a:rPr sz="1050" b="0" i="1">
                <a:solidFill>
                  <a:srgbClr val="202729"/>
                </a:solidFill>
                <a:latin typeface="Segoe UI"/>
              </a:rPr>
              <a:t>“I found out in a meeting, by accident, that a colleague who joined after me on the same band is earning materially more.”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570"/>
                </a:solidFill>
                <a:latin typeface="Segoe UI"/>
              </a:rPr>
              <a:t>The structured data already said flight risk; only the transcript says why. 5 of the 18 synthetic interviews were placed on the risk profile deliberately, so the join has something to find.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 spc="120">
                <a:solidFill>
                  <a:srgbClr val="0B5ED7"/>
                </a:solidFill>
                <a:latin typeface="Segoe UI"/>
              </a:rPr>
              <a:t>GOVERNANCE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86384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Segoe UI Semibold"/>
              </a:rPr>
              <a:t>Trust is built in: owned, tested, guarded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188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Workforce Astra  ·  Employee 360 on Snowflake  ·  all data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48188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743200" cy="100584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B5ED7"/>
                </a:solidFill>
                <a:latin typeface="Segoe UI Semibold"/>
              </a:rPr>
              <a:t>29  </a:t>
            </a:r>
            <a:r>
              <a:rPr sz="950" b="0" i="0">
                <a:solidFill>
                  <a:srgbClr val="202729"/>
                </a:solidFill>
                <a:latin typeface="Segoe UI"/>
              </a:rPr>
              <a:t>metrics in the registry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0 unowned: every metric has a named owner and a certified 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487168"/>
            <a:ext cx="2743200" cy="100584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B5ED7"/>
                </a:solidFill>
                <a:latin typeface="Segoe UI Semibold"/>
              </a:rPr>
              <a:t>25/25  </a:t>
            </a:r>
            <a:r>
              <a:rPr sz="950" b="0" i="0">
                <a:solidFill>
                  <a:srgbClr val="202729"/>
                </a:solidFill>
                <a:latin typeface="Segoe UI"/>
              </a:rPr>
              <a:t>golden-value tests pass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15 deterministic · 10 pin Cortex model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02735"/>
            <a:ext cx="2743200" cy="100584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B5ED7"/>
                </a:solidFill>
                <a:latin typeface="Segoe UI Semibold"/>
              </a:rPr>
              <a:t>3  </a:t>
            </a:r>
            <a:r>
              <a:rPr sz="950" b="0" i="0">
                <a:solidFill>
                  <a:srgbClr val="202729"/>
                </a:solidFill>
                <a:latin typeface="Segoe UI"/>
              </a:rPr>
              <a:t>scheduled Tasks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daily regression · weekly pay drift · quarterly bands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Model changes can't slip through.  </a:t>
            </a:r>
            <a:r>
              <a:rPr sz="950" b="0" i="0">
                <a:solidFill>
                  <a:srgbClr val="202729"/>
                </a:solidFill>
                <a:latin typeface="Segoe UI"/>
              </a:rPr>
              <a:t>Ten tests pin Cortex output, so a model upgrade fails loudly instead of quietly moving a board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16252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Small cohorts stay private.  </a:t>
            </a:r>
            <a:r>
              <a:rPr sz="950" b="0" i="0">
                <a:solidFill>
                  <a:srgbClr val="202729"/>
                </a:solidFill>
                <a:latin typeface="Segoe UI"/>
              </a:rPr>
              <a:t>Pay figures for cohorts under 5 people are withheld automatically; pay columns are masked.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660904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No automated pay decisions.  </a:t>
            </a:r>
            <a:r>
              <a:rPr sz="950" b="0" i="0">
                <a:solidFill>
                  <a:srgbClr val="202729"/>
                </a:solidFill>
                <a:latin typeface="Segoe UI"/>
              </a:rPr>
              <a:t>The band auditor only reports: no proposed-pay column, and the MCP tool can't be asked for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305556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Actions are drafts.  </a:t>
            </a:r>
            <a:r>
              <a:rPr sz="950" b="0" i="0">
                <a:solidFill>
                  <a:srgbClr val="202729"/>
                </a:solidFill>
                <a:latin typeface="Segoe UI"/>
              </a:rPr>
              <a:t>All 6 MCP tools default to dry_run = true. Nothing reaches Slack or Workday.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950208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02729"/>
                </a:solidFill>
                <a:latin typeface="Segoe UI Semibold"/>
              </a:rPr>
              <a:t>No real people.  </a:t>
            </a:r>
            <a:r>
              <a:rPr sz="950" b="0" i="0">
                <a:solidFill>
                  <a:srgbClr val="202729"/>
                </a:solidFill>
                <a:latin typeface="Segoe UI"/>
              </a:rPr>
              <a:t>Every record and transcript is synthetic and labelled as such in the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 spc="120">
                <a:solidFill>
                  <a:srgbClr val="0B5ED7"/>
                </a:solidFill>
                <a:latin typeface="Segoe UI"/>
              </a:rPr>
              <a:t>3 · IMPACT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86384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Segoe UI Semibold"/>
              </a:rPr>
              <a:t>One number per metric, and actions you can defend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188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Workforce Astra  ·  Employee 360 on Snowflake  ·  all data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48188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697480" cy="3017520"/>
          </a:xfrm>
          <a:prstGeom prst="roundRect">
            <a:avLst>
              <a:gd name="adj" fmla="val 2372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109728"/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MEASURABLE IN THE MVP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Headcount overstatement caught: 127 vs 109 (+16.5%), resolved to one governed answer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Pay gap explained: 14 points separate the raw −16.8% from the adjusted −2.8%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37 below-minimum employees surfaced that the red-circle metric (0) misses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5 at-risk strong performers flagged, with the reason in their own words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25 automated checks replace manual metric reconciliation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3260" y="1371600"/>
            <a:ext cx="2697480" cy="3017520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109728"/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SCALABILITY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Views, registry and tests don't change as headcount grows; the warehouse scales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A new domain is a view + registry rows + tests, proven five times here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Portal compute suspends when idle; one-command rebuild on a fresh account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The CoCo skills port to another project by renaming 3 objects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2697480" cy="3017520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109728"/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BEYOND THE DEMO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Real Workday and Slack connectors, behind human approval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More domains: learning, hiring funnel, internal mobility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Row-level security by manager hierarchy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A Marketplace starter kit: synthetic data + semantic views</a:t>
            </a:r>
          </a:p>
          <a:p>
            <a:pPr algn="l" marL="137160" indent="-137160">
              <a:spcAft>
                <a:spcPts val="600"/>
              </a:spcAft>
              <a:buClr>
                <a:srgbClr val="0B5ED7"/>
              </a:buClr>
              <a:buFont typeface="Arial"/>
              <a:buChar char="•"/>
            </a:pPr>
            <a:r>
              <a:rPr sz="1000" b="0" i="0">
                <a:solidFill>
                  <a:srgbClr val="202729"/>
                </a:solidFill>
                <a:latin typeface="Segoe UI"/>
              </a:rPr>
              <a:t>Fits any GCC reconciling parent, centre and vendor definitions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50" b="0" i="1">
                <a:solidFill>
                  <a:srgbClr val="5B6570"/>
                </a:solidFill>
                <a:latin typeface="Segoe UI"/>
              </a:rPr>
              <a:t>To measure in a pilot: time to reconcile board metrics, and time from risk signal to manager action. MVP figures above are on synthetic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03504"/>
            <a:ext cx="83210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 spc="120">
                <a:solidFill>
                  <a:srgbClr val="0B5ED7"/>
                </a:solidFill>
                <a:latin typeface="Segoe UI"/>
              </a:rPr>
              <a:t>BUILT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86384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02729"/>
                </a:solidFill>
                <a:latin typeface="Segoe UI Semibold"/>
              </a:rPr>
              <a:t>Snowflake-native, built and run through CoCo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188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Workforce Astra  ·  Employee 360 on Snowflake  ·  all data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48188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750" b="0" i="0">
                <a:solidFill>
                  <a:srgbClr val="5B6570"/>
                </a:solidFill>
                <a:latin typeface="Segoe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164592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02729"/>
                </a:solidFill>
                <a:latin typeface="Segoe UI Semibold"/>
              </a:rPr>
              <a:t>Semantic Views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5 governed domains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371600"/>
            <a:ext cx="164592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02729"/>
                </a:solidFill>
                <a:latin typeface="Segoe UI Semibold"/>
              </a:rPr>
              <a:t>Cortex Analyst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plain English → SQL, 0 warnings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371600"/>
            <a:ext cx="164592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02729"/>
                </a:solidFill>
                <a:latin typeface="Segoe UI Semibold"/>
              </a:rPr>
              <a:t>Cortex Search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127 review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04288"/>
            <a:ext cx="164592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02729"/>
                </a:solidFill>
                <a:latin typeface="Segoe UI Semibold"/>
              </a:rPr>
              <a:t>Cortex AI SQL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SENTIMENT, AI_CLASSIFY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2304288"/>
            <a:ext cx="164592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02729"/>
                </a:solidFill>
                <a:latin typeface="Segoe UI Semibold"/>
              </a:rPr>
              <a:t>Snowpark Python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interview scoring procedure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2304288"/>
            <a:ext cx="164592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02729"/>
                </a:solidFill>
                <a:latin typeface="Segoe UI Semibold"/>
              </a:rPr>
              <a:t>Streamlit in Snowflake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Employee 360 portal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236976"/>
            <a:ext cx="164592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02729"/>
                </a:solidFill>
                <a:latin typeface="Segoe UI Semibold"/>
              </a:rPr>
              <a:t>Tasks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3 scheduled governance jobs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3236976"/>
            <a:ext cx="164592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02729"/>
                </a:solidFill>
                <a:latin typeface="Segoe UI Semibold"/>
              </a:rPr>
              <a:t>CoCo CLI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2 skills; every DDL applied through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3236976"/>
            <a:ext cx="164592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02729"/>
                </a:solidFill>
                <a:latin typeface="Segoe UI Semibold"/>
              </a:rPr>
              <a:t>MCP server</a:t>
            </a:r>
          </a:p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570"/>
                </a:solidFill>
                <a:latin typeface="Segoe UI"/>
              </a:rPr>
              <a:t>6 tools, mocked, dry-run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206240"/>
            <a:ext cx="5120640" cy="548640"/>
          </a:xfrm>
          <a:prstGeom prst="roundRect">
            <a:avLst>
              <a:gd name="adj" fmla="val 11666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02729"/>
                </a:solidFill>
                <a:latin typeface="Segoe UI"/>
              </a:rPr>
              <a:t>Verified live on 26-Sep-2026: a full CoCo CLI run loaded the data, passed 25/25 tests, returned 109 vs 127 and answered through Cortex Analyst.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1371600"/>
            <a:ext cx="2971800" cy="3383280"/>
          </a:xfrm>
          <a:prstGeom prst="roundRect">
            <a:avLst>
              <a:gd name="adj" fmla="val 2153"/>
            </a:avLst>
          </a:prstGeom>
          <a:solidFill>
            <a:srgbClr val="EEF5FE"/>
          </a:solidFill>
          <a:ln w="9525">
            <a:solidFill>
              <a:srgbClr val="C7D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28016"/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LINKS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570"/>
                </a:solidFill>
                <a:latin typeface="Segoe UI"/>
              </a:rPr>
              <a:t>Demo video</a:t>
            </a:r>
          </a:p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0B5ED7"/>
                </a:solidFill>
                <a:latin typeface="Segoe UI"/>
              </a:rPr>
              <a:t>[add unlisted YouTube link]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570"/>
                </a:solidFill>
                <a:latin typeface="Segoe UI"/>
              </a:rPr>
              <a:t>Code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0B5ED7"/>
                </a:solidFill>
                <a:latin typeface="Segoe UI"/>
                <a:hlinkClick r:id="rId3"/>
              </a:rPr>
              <a:t>github.com/rahulrao85/Workforce-Astra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570"/>
                </a:solidFill>
                <a:latin typeface="Segoe UI"/>
              </a:rPr>
              <a:t>Live page</a:t>
            </a:r>
          </a:p>
          <a:p>
            <a:pPr algn="l">
              <a:spcAft>
                <a:spcPts val="1200"/>
              </a:spcAft>
            </a:pPr>
            <a:r>
              <a:rPr sz="1000" b="0" i="0">
                <a:solidFill>
                  <a:srgbClr val="0B5ED7"/>
                </a:solidFill>
                <a:latin typeface="Segoe UI"/>
                <a:hlinkClick r:id="rId4"/>
              </a:rPr>
              <a:t>workforce-astra.rahulrao.in</a:t>
            </a:r>
          </a:p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5ED7"/>
                </a:solidFill>
                <a:latin typeface="Segoe UI"/>
              </a:rPr>
              <a:t>DATASETS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2729"/>
                </a:solidFill>
                <a:latin typeface="Segoe UI"/>
              </a:rPr>
              <a:t>All data is synthetic, generated by scripts in the repo; no real person or employer. Sources and licences: README → Datasets and licences.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